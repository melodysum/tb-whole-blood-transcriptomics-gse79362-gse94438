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TB whole-blood transcriptomics: infection, progression, and active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GSE79362 PTB/LTBI and GSE94438 household-contact progression cohort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Central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Which whole-blood RNA signals reflect TB disease rather than exposure or latent infection alone?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DA0"/>
                </a:solidFill>
              </a:defRPr>
            </a:pPr>
            <a:r>
              <a:t>Key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GSE79362: LTBI versus PTB. GSE94438: household-contact Control versus PTB/progressor.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Main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Both cohorts converge on interferon, inflammation, complement, and myeloid/neutrophil-associated pathways.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The term “uninfected” should be used cautiously: GSE94438 controls are exposed household contacts or non-progressors, not strictly unexposed healthy individuals.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GSE79362 is best suited to identify active-disease signals on a latent-infection background.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GSE94438 is best suited to identify progression/disease-emergence signals among exposed household contacts.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Prepared from actual curatedTBData analysis outputs in /private/tmp/tb_curated_results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Dataset structure: the two cohorts address related but distinct biological contrasts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41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Biological contrast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Labelled n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Site/country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Repeated sampling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GSE79362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PTB vs LTBI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355 = 110 PTB + 245 LTBI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South Africa only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Yes: 144 patients; 105 repeated</a:t>
                      </a:r>
                    </a:p>
                  </a:txBody>
                  <a:tcPr marL="36576" marR="36576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GSE94438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PTB/progressor vs household-contact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428 labelled = 101 PTB + 327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Ethiopia / South Africa / The Gambia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Yes: 334 patients; 79 repeated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How to interpret GSE79362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All samples are from South Africa; PTB/LTBI primarily captures active-disease biology on a latent-infection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How to interpret GSE94438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This is a three-country household-contact cohort; site is a priority confounder and Control does not mean unexposed.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Analytical 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Repeated sampling and sampling time can inflate the effective sample size; adjusted sensitivity models are therefore essential.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</a:defRPr>
            </a:pPr>
            <a:r>
              <a:t>GSE94438 has 434 hg38 count samples in curatedTBData, but 6 lack TBStatus; labelled analyses therefore use 428 samples.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</a:defRPr>
            </a:pPr>
            <a:r>
              <a:t>GSE79362 retains 355/355 samples in the curated hg38 matrix.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QC: sample-level variation must be separated from biological signal</a:t>
            </a:r>
          </a:p>
        </p:txBody>
      </p:sp>
      <p:pic>
        <p:nvPicPr>
          <p:cNvPr id="3" name="Picture 2" descr="GSE79362_PCA_TB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49240" cy="4389120"/>
          </a:xfrm>
          <a:prstGeom prst="rect">
            <a:avLst/>
          </a:prstGeom>
        </p:spPr>
      </p:pic>
      <p:pic>
        <p:nvPicPr>
          <p:cNvPr id="4" name="Picture 3" descr="GSE94438_PCA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34924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PCA by TBStatus assesses whether active disease or progression is a major source of variance.</a:t>
            </a:r>
          </a:p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GSE94438 must also be inspected by country/site because geography and population structure can mimic disease biology.</a:t>
            </a:r>
          </a:p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Library-size histograms and sample-correlation heatmaps were generated; gene-level CPM filtering was applied before downstream analyses.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QC outputs: library size, PCA by TBStatus, PCA by site/country, sample-correlation heatmaps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Differential expression: active/progressive TB is dominated by up-regulated innate immune genes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05840"/>
          <a:ext cx="4572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Baseline DEGs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Adjusted sensitivity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GSE79362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9 after timepoint + PatientID block</a:t>
                      </a:r>
                    </a:p>
                  </a:txBody>
                  <a:tcPr marL="36576" marR="36576"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GSE94438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41 after site + sex + age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pic>
        <p:nvPicPr>
          <p:cNvPr id="4" name="Picture 3" descr="GSE79362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5212080" cy="3566160"/>
          </a:xfrm>
          <a:prstGeom prst="rect">
            <a:avLst/>
          </a:prstGeom>
        </p:spPr>
      </p:pic>
      <p:pic>
        <p:nvPicPr>
          <p:cNvPr id="5" name="Picture 4" descr="GSE94438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14600"/>
            <a:ext cx="521208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005840"/>
            <a:ext cx="55778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133856"/>
            <a:ext cx="524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Top disease-associated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508760"/>
            <a:ext cx="524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GSE79362: GBP6, FCGR1CP, GBP5, ANKRD22, PDCD1LG2, CD274, FCGR1B. GSE94438: SEPTIN4, ANKRD22, C1QC, BATF2, SERPING1, C1QB, CD274.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Adjustment affects the two cohorts differently</a:t>
            </a:r>
          </a:p>
        </p:txBody>
      </p:sp>
      <p:pic>
        <p:nvPicPr>
          <p:cNvPr id="3" name="Picture 2" descr="GSE79362_baseline_vs_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257800" cy="4297680"/>
          </a:xfrm>
          <a:prstGeom prst="rect">
            <a:avLst/>
          </a:prstGeom>
        </p:spPr>
      </p:pic>
      <p:pic>
        <p:nvPicPr>
          <p:cNvPr id="4" name="Picture 3" descr="GSE94438_baseline_vs_adjus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2578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GSE79362 has a meaningful longitudinal structure: duplicateCorrelation estimated a within-patient correlation of approximately 0.306, and strict DEGs decreased from 30 to 9.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GSE94438 retained most disease-associated signal after adjustment for site, sex, and age, with strict DEGs decreasing only from 43 to 41.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Interpretation: the GSE79362 signal is sensitive to repeated sampling and timepoint, whereas the GSE94438 signal is not simply explained by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Pathway enrichment: both datasets converge on interferon, inflammation, complement, and innate immunity</a:t>
            </a:r>
          </a:p>
        </p:txBody>
      </p:sp>
      <p:pic>
        <p:nvPicPr>
          <p:cNvPr id="3" name="Picture 2" descr="GSE79362_GSEA_Hall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440680" cy="4343400"/>
          </a:xfrm>
          <a:prstGeom prst="rect">
            <a:avLst/>
          </a:prstGeom>
        </p:spPr>
      </p:pic>
      <p:pic>
        <p:nvPicPr>
          <p:cNvPr id="4" name="Picture 3" descr="GSE94438_GSEA_Hall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406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Hallmark interferon-alpha, interferon-gamma, inflammatory response, TNF/NF-kB, IL6/JAK/STAT3, and complement pathways are strongly positive in both datasets.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These are canonical TB whole-blood signatures, but they may reflect leukocyte-composition shifts as well as cell-intrinsic activation.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GSEA ranking: sign(logFC) x -log10(PValue); key Hallmark pathways show extremely small adjusted P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Signature validation: risk scores perform better in PTB/LTBI than in household-contact progression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60120"/>
          <a:ext cx="4892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GSE79362 AUC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GSE94438 AUC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Missing genes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Zak16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0.686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FCGR1B</a:t>
                      </a:r>
                    </a:p>
                  </a:txBody>
                  <a:tcPr marL="36576" marR="36576"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RISK4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0.687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CDO1</a:t>
                      </a:r>
                    </a:p>
                  </a:txBody>
                  <a:tcPr marL="36576" marR="36576"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Eleven_gene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0.694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FCGR1B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pic>
        <p:nvPicPr>
          <p:cNvPr id="4" name="Picture 3" descr="GSE79362_Zak16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4892040" cy="3108960"/>
          </a:xfrm>
          <a:prstGeom prst="rect">
            <a:avLst/>
          </a:prstGeom>
        </p:spPr>
      </p:pic>
      <p:pic>
        <p:nvPicPr>
          <p:cNvPr id="5" name="Picture 4" descr="GSE94438_Zak16_score_by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28800"/>
            <a:ext cx="580644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58064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AUCs are consistently higher in GSE79362, approximately 0.76-0.77, than in GSE94438, approximately 0.69.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This likely reflects a sharper PTB/LTBI contrast compared with the harder task of distinguishing progressors from heterogeneous household contacts.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For GSE94438, site-stratified score plots are essential because score distributions vary by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Cross-dataset consistency: pathways agree more strongly than individual genes</a:t>
            </a:r>
          </a:p>
        </p:txBody>
      </p:sp>
      <p:pic>
        <p:nvPicPr>
          <p:cNvPr id="3" name="Picture 2" descr="cross_dataset_logF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212080" cy="4297680"/>
          </a:xfrm>
          <a:prstGeom prst="rect">
            <a:avLst/>
          </a:prstGeom>
        </p:spPr>
      </p:pic>
      <p:pic>
        <p:nvPicPr>
          <p:cNvPr id="4" name="Picture 3" descr="cross_dataset_Hallmark_NE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07492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DA0"/>
                </a:solidFill>
              </a:defRPr>
            </a:pPr>
            <a:r>
              <a:t>Gene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Shared tested genes: 14,128; logFC Spearman = 0.64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Strict DEG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Shared strict DEGs: 15; top-100 overlap: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E52"/>
                </a:solidFill>
              </a:defRPr>
            </a:pPr>
            <a:r>
              <a:t>Pathway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Hallmark NES Spearman = 0.82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Biological interpretation: what is shared by infection, disease, and non-progression?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E52"/>
                </a:solidFill>
              </a:defRPr>
            </a:pPr>
            <a:r>
              <a:t>Infected but not diseased / non-progressor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LTBI and household-contact Control samples show lower interferon, myeloid, and complement scores on average; they are not transcriptionally inert, but they lack the strong inflammatory disease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Progression / active 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The shared signal includes interferon-inducible GBP/ISG genes, immune-regulatory genes such as CD274, complement C1 genes, and myeloid activation.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Strictly uninfected individuals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This category is not directly resolved here. GSE94438 controls are exposed household contacts; TST/QFT metadata would be required to define uninfected subgroups.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Commonality 1: active or progressive TB shows strong interferon and innate immune activation in both cohorts.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Commonality 2: complement and myeloid/neutrophil pathway enrichment suggests that whole-blood signals are likely influenced by leukocyte composition.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Commonality 3: signature scores behave as a continuous risk gradient rather than a perfect binary classifier, consistent with the biological continuum from exposure to infection, subclinical disease, and active TB.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Whole-blood DEGs should not be interpreted as cell-intrinsic regulation without deconvolution or single-cell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Limitations and next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curatedTBData subset: GSE79362 retains 355/355 samples; GSE94438 retains 434 hg38 count samples but 6 lack TBStatus, leaving 428 labelled samples.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Label definitions differ: GSE79362 is PTB/LTBI, whereas GSE94438 is household-contact Control/PTB; this affects both AUC and DEG interpretation.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Repeated measures matter: adjustment for timepoint and patient blocking substantially reduced GSE79362 DEGs; a baseline-only sensitivity analysis should also be considered.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Site and population effects are especially important for GSE94438; site adjustment preserved most DEGs but should remain in the final model.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Whole-blood composition is a major caveat; the next step should include cell-type deconvolution or validation in sorted-cell/single-cell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09160"/>
            <a:ext cx="10287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837176"/>
            <a:ext cx="9957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Take-home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212080"/>
            <a:ext cx="9957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Across two prospective TB whole-blood RNA-seq cohorts, active or progressive TB is marked by a reproducible interferon-inflammatory-complement-myeloid program; this signal distinguishes disease risk from LTBI or exposed non-progression, but it likely combines immune activation with leukocyte-composition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stated otherwise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