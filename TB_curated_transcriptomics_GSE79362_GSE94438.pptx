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TB whole-blood transcriptomics: infection, progression, and disease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GSE79362 PTB/LTBI and GSE94438 household-contact progression cohort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53895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980"/>
                </a:solidFill>
              </a:defRPr>
            </a:pPr>
            <a:r>
              <a:t>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哪些 whole-blood RNA 信号反映结核发病，而不是单纯暴露或潜伏感染？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53895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DA0"/>
                </a:solidFill>
              </a:defRPr>
            </a:pPr>
            <a:r>
              <a:t>关键比较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GSE79362: LTBI vs PTB；GSE94438: household-contact Control vs PTB/progressor。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453895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主要结论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两个队列共同指向 IFN、炎症、补体、髓系/中性粒细胞相关通路。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这里的“未感染”需要谨慎：GSE94438 Control 是密切接触者/未进展者，不等价于严格未感染。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GSE79362 更适合回答：在已感染背景下，哪些信号与活动性 TB 相关。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GSE94438 更适合回答：在暴露密接人群中，哪些信号与后续 TB 进展/发病相关。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Prepared from actual curatedTBData analysis outputs in /private/tmp/tb_curated_results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Dataset structure: the two cohorts ask related but not identical biological questions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41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Biological contrast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Labelled n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Site/country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Repeated sampling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GSE79362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PTB vs LTBI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355 = 110 PTB + 245 LTBI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South Africa only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Yes: 144 patients; 105 repeated</a:t>
                      </a:r>
                    </a:p>
                  </a:txBody>
                  <a:tcPr marL="36576" marR="36576"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GSE94438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PTB/progressor vs household-contact Control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428 labelled = 101 PTB + 327 Control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Ethiopia / South Africa / The Gambia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Yes: 334 patients; 79 repeated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2880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00837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980"/>
                </a:solidFill>
              </a:defRPr>
            </a:pPr>
            <a:r>
              <a:t>GSE79362 解释重点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38328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全体为 South Africa；PTB/LTBI 让我们看见“潜伏感染背景上的活动性疾病信号”。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880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300837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7622"/>
                </a:solidFill>
              </a:defRPr>
            </a:pPr>
            <a:r>
              <a:t>GSE94438 解释重点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338328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三国密接队列；site 是优先混杂因素，Control 不是严格健康未暴露人群。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880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00837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分析限制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38328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重复采样和采样时间可能影响有效样本量；差异结果需看调整模型敏感性。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</a:defRPr>
            </a:pPr>
            <a:r>
              <a:t>GSE94438 GEO total 为 434；curated hg38 也有 434，但 6 个样本缺 TBStatus，因此 labelled analysis 为 428。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</a:defRPr>
            </a:pPr>
            <a:r>
              <a:t>GSE79362 curated hg38 保留 355/355。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noted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QC: sample-level variation is visible and must be separated from biology</a:t>
            </a:r>
          </a:p>
        </p:txBody>
      </p:sp>
      <p:pic>
        <p:nvPicPr>
          <p:cNvPr id="3" name="Picture 2" descr="GSE79362_PCA_TB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49240" cy="4389120"/>
          </a:xfrm>
          <a:prstGeom prst="rect">
            <a:avLst/>
          </a:prstGeom>
        </p:spPr>
      </p:pic>
      <p:pic>
        <p:nvPicPr>
          <p:cNvPr id="4" name="Picture 3" descr="GSE94438_PCA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34924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577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1F2937"/>
                </a:solidFill>
              </a:defRPr>
            </a:pPr>
            <a:r>
              <a:t>PCA by TBStatus helps assess whether disease/progression is a major source of variance.</a:t>
            </a:r>
          </a:p>
          <a:p>
            <a:pPr>
              <a:spcAft>
                <a:spcPts val="600"/>
              </a:spcAft>
              <a:defRPr sz="1080">
                <a:solidFill>
                  <a:srgbClr val="1F2937"/>
                </a:solidFill>
              </a:defRPr>
            </a:pPr>
            <a:r>
              <a:t>GSE94438 must be checked by country/site because geography and population structure can mimic biology.</a:t>
            </a:r>
          </a:p>
          <a:p>
            <a:pPr>
              <a:spcAft>
                <a:spcPts val="600"/>
              </a:spcAft>
              <a:defRPr sz="1080">
                <a:solidFill>
                  <a:srgbClr val="1F2937"/>
                </a:solidFill>
              </a:defRPr>
            </a:pPr>
            <a:r>
              <a:t>Library-size and correlation heatmaps were generated as QC outputs; no low-library-size filtering threshold was applied beyond gene-level CPM filtering.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QC plots: library size, PCA by TBStatus, PCA by site/country, sample correlation heatmaps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Differential expression: activity/progression is dominated by up-regulated innate immune genes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05840"/>
          <a:ext cx="4572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Baseline DEGs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Adjusted sensitivity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GSE79362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9 after timepoint + PatientID block</a:t>
                      </a:r>
                    </a:p>
                  </a:txBody>
                  <a:tcPr marL="36576" marR="36576"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GSE94438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41 after site + sex + age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pic>
        <p:nvPicPr>
          <p:cNvPr id="4" name="Picture 3" descr="GSE79362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5212080" cy="3566160"/>
          </a:xfrm>
          <a:prstGeom prst="rect">
            <a:avLst/>
          </a:prstGeom>
        </p:spPr>
      </p:pic>
      <p:pic>
        <p:nvPicPr>
          <p:cNvPr id="5" name="Picture 4" descr="GSE94438_volc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14600"/>
            <a:ext cx="521208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005840"/>
            <a:ext cx="55778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133856"/>
            <a:ext cx="524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Top disease-associated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508760"/>
            <a:ext cx="524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GSE79362: GBP6, FCGR1CP, GBP5, ANKRD22, PDCD1LG2, CD274, FCGR1B.  GSE94438: SEPTIN4, ANKRD22, C1QC, BATF2, SERPING1, C1QB, CD274.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noted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Adjustment matters differently in the two cohorts</a:t>
            </a:r>
          </a:p>
        </p:txBody>
      </p:sp>
      <p:pic>
        <p:nvPicPr>
          <p:cNvPr id="3" name="Picture 2" descr="GSE79362_baseline_vs_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257800" cy="4297680"/>
          </a:xfrm>
          <a:prstGeom prst="rect">
            <a:avLst/>
          </a:prstGeom>
        </p:spPr>
      </p:pic>
      <p:pic>
        <p:nvPicPr>
          <p:cNvPr id="4" name="Picture 3" descr="GSE94438_baseline_vs_adjus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2578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GSE79362: repeated longitudinal structure is non-trivial; duplicateCorrelation estimated within-patient correlation ≈ 0.306, and strict DEGs dropped from 30 to 9.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GSE94438: site/sex/age adjustment preserved most disease signal, with strict DEGs 43 to 41.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Interpretation: GSE79362 disease signal is real but sensitive to repeated sampling/time; GSE94438 signal is not simply explained by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noted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Pathway enrichment: both datasets converge on IFN, inflammation, complement, and innate immunity</a:t>
            </a:r>
          </a:p>
        </p:txBody>
      </p:sp>
      <p:pic>
        <p:nvPicPr>
          <p:cNvPr id="3" name="Picture 2" descr="GSE79362_GSEA_Hall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440680" cy="4343400"/>
          </a:xfrm>
          <a:prstGeom prst="rect">
            <a:avLst/>
          </a:prstGeom>
        </p:spPr>
      </p:pic>
      <p:pic>
        <p:nvPicPr>
          <p:cNvPr id="4" name="Picture 3" descr="GSE94438_GSEA_Hall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4068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321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Hallmark IFN-α, IFN-γ, inflammatory response, TNF/NFκB, IL6/JAK/STAT3, and complement are strongly positive in both datasets.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These pathways are canonical TB whole-blood signals, but they may reflect leukocyte composition shifts as well as within-cell activation.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GSEA ranking: sign(logFC) × -log10(PValue); FDR values for key Hallmark pathways are extremely small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Signature validation: risk scores work better in PTB/LTBI than in household-contact progression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60120"/>
          <a:ext cx="4892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GSE79362 AUC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GSE94438 AUC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Missing genes</a:t>
                      </a:r>
                    </a:p>
                  </a:txBody>
                  <a:tcPr marL="36576" marR="36576">
                    <a:solidFill>
                      <a:srgbClr val="E6ECF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Zak16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0.686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FCGR1B</a:t>
                      </a:r>
                    </a:p>
                  </a:txBody>
                  <a:tcPr marL="36576" marR="36576"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RISK4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0.759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0.687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CDO1</a:t>
                      </a:r>
                    </a:p>
                  </a:txBody>
                  <a:tcPr marL="36576" marR="36576"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Eleven_gene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0.694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FCGR1B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pic>
        <p:nvPicPr>
          <p:cNvPr id="4" name="Picture 3" descr="GSE79362_Zak16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4892040" cy="3108960"/>
          </a:xfrm>
          <a:prstGeom prst="rect">
            <a:avLst/>
          </a:prstGeom>
        </p:spPr>
      </p:pic>
      <p:pic>
        <p:nvPicPr>
          <p:cNvPr id="5" name="Picture 4" descr="GSE94438_Zak16_score_by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828800"/>
            <a:ext cx="580644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58064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</a:defRPr>
            </a:pPr>
            <a:r>
              <a:t>AUC is consistently higher in GSE79362 (≈0.76-0.77) than GSE94438 (≈0.69).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</a:defRPr>
            </a:pPr>
            <a:r>
              <a:t>Likely explanation: PTB/LTBI contrast is biologically sharper than predicting progression among heterogeneous household contacts.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</a:defRPr>
            </a:pPr>
            <a:r>
              <a:t>GSE94438 site-stratified plots are essential because score distributions vary by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noted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Cross-dataset consistency: pathways agree more strongly than individual genes</a:t>
            </a:r>
          </a:p>
        </p:txBody>
      </p:sp>
      <p:pic>
        <p:nvPicPr>
          <p:cNvPr id="3" name="Picture 2" descr="cross_dataset_logF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212080" cy="4297680"/>
          </a:xfrm>
          <a:prstGeom prst="rect">
            <a:avLst/>
          </a:prstGeom>
        </p:spPr>
      </p:pic>
      <p:pic>
        <p:nvPicPr>
          <p:cNvPr id="4" name="Picture 3" descr="cross_dataset_Hallmark_NE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07492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5532120"/>
            <a:ext cx="3017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566013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DA0"/>
                </a:solidFill>
              </a:defRPr>
            </a:pPr>
            <a:r>
              <a:t>Gene-level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6035040"/>
            <a:ext cx="268833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Shared tested genes: 14,128; logFC Spearman = 0.64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532120"/>
            <a:ext cx="3017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566013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7622"/>
                </a:solidFill>
              </a:defRPr>
            </a:pPr>
            <a:r>
              <a:t>Strict DEG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6035040"/>
            <a:ext cx="268833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Shared strict DEGs: 15; top-100 overlap: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5532120"/>
            <a:ext cx="3017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5660136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E52"/>
                </a:solidFill>
              </a:defRPr>
            </a:pPr>
            <a:r>
              <a:t>Pathway-level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6035040"/>
            <a:ext cx="268833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Hallmark NES Spearman = 0.82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noted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Biological interpretation: what is common to infection, disease, and non-progression?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E52"/>
                </a:solidFill>
              </a:defRPr>
            </a:pPr>
            <a:r>
              <a:t>Infected but not diseased / non-progressor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45920"/>
            <a:ext cx="305409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LTBI or household-contact Control samples show lower IFN/myeloid/complement score on average; they are not transcriptionally inert, but lack the strong inflammatory disease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4300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2710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Progression / active 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645920"/>
            <a:ext cx="305409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Common signal: IFN-inducible GBP/ISG genes, antigen/inhibitory checkpoint genes such as CD274, complement C1 genes, and myeloid activation.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4300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2710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7622"/>
                </a:solidFill>
              </a:defRPr>
            </a:pPr>
            <a:r>
              <a:t>Strictly uninfected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645920"/>
            <a:ext cx="305409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Not directly resolved here. GSE94438 controls are exposed household contacts; TST/QFT metadata would be needed to define uninfected subgroups.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共性一：发病/进展状态在两个队列都呈现强 IFN 和 innate immune activation。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共性二：补体和髓系/中性粒细胞通路说明 whole blood 信号很可能受细胞组成影响。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共性三：签名基因表现为连续风险梯度，而不是完美二分类；这符合 TB 从暴露、感染、亚临床到活动性疾病的连续谱。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Do not overinterpret whole-blood DEGs as cell-intrinsic regulation without deconvolution or single-cell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Limitations and next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curatedTBData subset: GSE79362 retains 355/355; GSE94438 retains 434 hg38 counts but 6 samples lack TBStatus, leaving 428 labelled samples.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Label definitions differ: GSE79362 is PTB/LTBI, while GSE94438 is household-contact Control/PTB; this affects AUC and DEG interpretation.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Repeated measures matter: GSE79362 adjustment reduced DEGs substantially; baseline-only sensitivity analysis should be considered.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Site/population effect matters most for GSE94438; site adjustment preserved most DEGs but should remain in the final model.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Whole-blood composition is a major caveat; next step should include cell-type deconvolution or validation in sorted/single-cell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09160"/>
            <a:ext cx="10287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4837176"/>
            <a:ext cx="9957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980"/>
                </a:solidFill>
              </a:defRPr>
            </a:pPr>
            <a:r>
              <a:t>Take-home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212080"/>
            <a:ext cx="9957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Across two prospective TB whole-blood RNA-seq cohorts, active/progressive TB is marked by a reproducible IFN–inflammatory–complement–myeloid program; this signal distinguishes disease risk from LTBI/exposed non-progression, but it likely mixes immune activation with leukocyte composition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curatedTBData hg38 reprocessed counts; baseline edgeR unless noted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